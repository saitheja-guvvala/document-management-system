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43891200" cy="32918400"/>
  <p:notesSz cx="7004050" cy="9290050"/>
  <p:defaultTextStyle>
    <a:defPPr>
      <a:defRPr lang="en-US"/>
    </a:defPPr>
    <a:lvl1pPr marL="0" algn="l" defTabSz="3291279" rtl="0" eaLnBrk="1" latinLnBrk="0" hangingPunct="1">
      <a:defRPr sz="6400" kern="1200">
        <a:solidFill>
          <a:schemeClr val="tx1"/>
        </a:solidFill>
        <a:latin typeface="+mn-lt"/>
        <a:ea typeface="+mn-ea"/>
        <a:cs typeface="+mn-cs"/>
      </a:defRPr>
    </a:lvl1pPr>
    <a:lvl2pPr marL="1645640" algn="l" defTabSz="3291279" rtl="0" eaLnBrk="1" latinLnBrk="0" hangingPunct="1">
      <a:defRPr sz="6400" kern="1200">
        <a:solidFill>
          <a:schemeClr val="tx1"/>
        </a:solidFill>
        <a:latin typeface="+mn-lt"/>
        <a:ea typeface="+mn-ea"/>
        <a:cs typeface="+mn-cs"/>
      </a:defRPr>
    </a:lvl2pPr>
    <a:lvl3pPr marL="3291279" algn="l" defTabSz="3291279" rtl="0" eaLnBrk="1" latinLnBrk="0" hangingPunct="1">
      <a:defRPr sz="6400" kern="1200">
        <a:solidFill>
          <a:schemeClr val="tx1"/>
        </a:solidFill>
        <a:latin typeface="+mn-lt"/>
        <a:ea typeface="+mn-ea"/>
        <a:cs typeface="+mn-cs"/>
      </a:defRPr>
    </a:lvl3pPr>
    <a:lvl4pPr marL="4936919" algn="l" defTabSz="3291279" rtl="0" eaLnBrk="1" latinLnBrk="0" hangingPunct="1">
      <a:defRPr sz="6400" kern="1200">
        <a:solidFill>
          <a:schemeClr val="tx1"/>
        </a:solidFill>
        <a:latin typeface="+mn-lt"/>
        <a:ea typeface="+mn-ea"/>
        <a:cs typeface="+mn-cs"/>
      </a:defRPr>
    </a:lvl4pPr>
    <a:lvl5pPr marL="6582559" algn="l" defTabSz="3291279" rtl="0" eaLnBrk="1" latinLnBrk="0" hangingPunct="1">
      <a:defRPr sz="6400" kern="1200">
        <a:solidFill>
          <a:schemeClr val="tx1"/>
        </a:solidFill>
        <a:latin typeface="+mn-lt"/>
        <a:ea typeface="+mn-ea"/>
        <a:cs typeface="+mn-cs"/>
      </a:defRPr>
    </a:lvl5pPr>
    <a:lvl6pPr marL="8228198" algn="l" defTabSz="3291279" rtl="0" eaLnBrk="1" latinLnBrk="0" hangingPunct="1">
      <a:defRPr sz="6400" kern="1200">
        <a:solidFill>
          <a:schemeClr val="tx1"/>
        </a:solidFill>
        <a:latin typeface="+mn-lt"/>
        <a:ea typeface="+mn-ea"/>
        <a:cs typeface="+mn-cs"/>
      </a:defRPr>
    </a:lvl6pPr>
    <a:lvl7pPr marL="9873837" algn="l" defTabSz="3291279" rtl="0" eaLnBrk="1" latinLnBrk="0" hangingPunct="1">
      <a:defRPr sz="6400" kern="1200">
        <a:solidFill>
          <a:schemeClr val="tx1"/>
        </a:solidFill>
        <a:latin typeface="+mn-lt"/>
        <a:ea typeface="+mn-ea"/>
        <a:cs typeface="+mn-cs"/>
      </a:defRPr>
    </a:lvl7pPr>
    <a:lvl8pPr marL="11519478" algn="l" defTabSz="3291279" rtl="0" eaLnBrk="1" latinLnBrk="0" hangingPunct="1">
      <a:defRPr sz="6400" kern="1200">
        <a:solidFill>
          <a:schemeClr val="tx1"/>
        </a:solidFill>
        <a:latin typeface="+mn-lt"/>
        <a:ea typeface="+mn-ea"/>
        <a:cs typeface="+mn-cs"/>
      </a:defRPr>
    </a:lvl8pPr>
    <a:lvl9pPr marL="13165118" algn="l" defTabSz="3291279" rtl="0" eaLnBrk="1" latinLnBrk="0" hangingPunct="1">
      <a:defRPr sz="6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60" autoAdjust="0"/>
    <p:restoredTop sz="94676" autoAdjust="0"/>
  </p:normalViewPr>
  <p:slideViewPr>
    <p:cSldViewPr>
      <p:cViewPr varScale="1">
        <p:scale>
          <a:sx n="24" d="100"/>
          <a:sy n="24" d="100"/>
        </p:scale>
        <p:origin x="2058" y="-114"/>
      </p:cViewPr>
      <p:guideLst>
        <p:guide orient="horz" pos="10368"/>
        <p:guide pos="1382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barChart>
        <c:barDir val="col"/>
        <c:grouping val="clustere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DA3-4D53-A73A-848C39B438CE}"/>
            </c:ext>
          </c:extLst>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DA3-4D53-A73A-848C39B438CE}"/>
            </c:ext>
          </c:extLst>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3.4</c:v>
                </c:pt>
              </c:numCache>
            </c:numRef>
          </c:val>
          <c:extLst>
            <c:ext xmlns:c16="http://schemas.microsoft.com/office/drawing/2014/chart" uri="{C3380CC4-5D6E-409C-BE32-E72D297353CC}">
              <c16:uniqueId val="{00000002-6DA3-4D53-A73A-848C39B438CE}"/>
            </c:ext>
          </c:extLst>
        </c:ser>
        <c:dLbls>
          <c:showLegendKey val="0"/>
          <c:showVal val="0"/>
          <c:showCatName val="0"/>
          <c:showSerName val="0"/>
          <c:showPercent val="0"/>
          <c:showBubbleSize val="0"/>
        </c:dLbls>
        <c:gapWidth val="150"/>
        <c:axId val="90757760"/>
        <c:axId val="93794688"/>
      </c:barChart>
      <c:catAx>
        <c:axId val="90757760"/>
        <c:scaling>
          <c:orientation val="minMax"/>
        </c:scaling>
        <c:delete val="0"/>
        <c:axPos val="b"/>
        <c:numFmt formatCode="General" sourceLinked="0"/>
        <c:majorTickMark val="out"/>
        <c:minorTickMark val="none"/>
        <c:tickLblPos val="nextTo"/>
        <c:crossAx val="93794688"/>
        <c:crosses val="autoZero"/>
        <c:auto val="1"/>
        <c:lblAlgn val="ctr"/>
        <c:lblOffset val="100"/>
        <c:noMultiLvlLbl val="0"/>
      </c:catAx>
      <c:valAx>
        <c:axId val="93794688"/>
        <c:scaling>
          <c:orientation val="minMax"/>
        </c:scaling>
        <c:delete val="0"/>
        <c:axPos val="l"/>
        <c:majorGridlines/>
        <c:numFmt formatCode="General" sourceLinked="1"/>
        <c:majorTickMark val="out"/>
        <c:minorTickMark val="none"/>
        <c:tickLblPos val="nextTo"/>
        <c:crossAx val="90757760"/>
        <c:crosses val="autoZero"/>
        <c:crossBetween val="between"/>
      </c:valAx>
    </c:plotArea>
    <c:legend>
      <c:legendPos val="r"/>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5" name="Rectangle 14"/>
          <p:cNvSpPr/>
          <p:nvPr userDrawn="1"/>
        </p:nvSpPr>
        <p:spPr>
          <a:xfrm>
            <a:off x="43159680"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6" name="Rectangle 15"/>
          <p:cNvSpPr/>
          <p:nvPr userDrawn="1"/>
        </p:nvSpPr>
        <p:spPr>
          <a:xfrm>
            <a:off x="0"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7" name="Rectangle 16"/>
          <p:cNvSpPr/>
          <p:nvPr userDrawn="1"/>
        </p:nvSpPr>
        <p:spPr>
          <a:xfrm>
            <a:off x="0" y="0"/>
            <a:ext cx="43891200" cy="41148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8" name="Rectangle 17"/>
          <p:cNvSpPr/>
          <p:nvPr userDrawn="1"/>
        </p:nvSpPr>
        <p:spPr>
          <a:xfrm>
            <a:off x="0" y="28803600"/>
            <a:ext cx="43891200" cy="411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1" name="Instructions"/>
          <p:cNvSpPr/>
          <p:nvPr userDrawn="1"/>
        </p:nvSpPr>
        <p:spPr>
          <a:xfrm>
            <a:off x="-105156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rgbClr val="7F7F7F"/>
                </a:solidFill>
                <a:latin typeface="Calibri" pitchFamily="34" charset="0"/>
                <a:cs typeface="Calibri" panose="020F0502020204030204" pitchFamily="34" charset="0"/>
              </a:rPr>
              <a:t>Poster Print Size:</a:t>
            </a:r>
            <a:endParaRPr sz="7200" dirty="0">
              <a:solidFill>
                <a:srgbClr val="7F7F7F"/>
              </a:solidFill>
              <a:latin typeface="Calibri"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This poster template is 36” high by 48” wide. It can be used to print a Tri-Fold poster with 12” wings.</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Placeholders</a:t>
            </a:r>
            <a:r>
              <a:rPr sz="7200" dirty="0">
                <a:solidFill>
                  <a:srgbClr val="7F7F7F"/>
                </a:solidFill>
                <a:latin typeface="Calibri" pitchFamily="34" charset="0"/>
                <a:cs typeface="Calibri" panose="020F0502020204030204" pitchFamily="34" charset="0"/>
              </a:rPr>
              <a:t>:</a:t>
            </a:r>
          </a:p>
          <a:p>
            <a:pPr lvl="0">
              <a:spcBef>
                <a:spcPts val="0"/>
              </a:spcBef>
              <a:spcAft>
                <a:spcPts val="1800"/>
              </a:spcAft>
            </a:pPr>
            <a:r>
              <a:rPr sz="4900" dirty="0">
                <a:solidFill>
                  <a:srgbClr val="7F7F7F"/>
                </a:solidFill>
                <a:latin typeface="Calibri" pitchFamily="34" charset="0"/>
                <a:cs typeface="Calibri" panose="020F0502020204030204" pitchFamily="34" charset="0"/>
              </a:rPr>
              <a:t>The </a:t>
            </a:r>
            <a:r>
              <a:rPr lang="en-US" sz="4900" dirty="0">
                <a:solidFill>
                  <a:srgbClr val="7F7F7F"/>
                </a:solidFill>
                <a:latin typeface="Calibri" pitchFamily="34" charset="0"/>
                <a:cs typeface="Calibri" panose="020F0502020204030204" pitchFamily="34" charset="0"/>
              </a:rPr>
              <a:t>various elements included</a:t>
            </a:r>
            <a:r>
              <a:rPr sz="4900" dirty="0">
                <a:solidFill>
                  <a:srgbClr val="7F7F7F"/>
                </a:solidFill>
                <a:latin typeface="Calibri" pitchFamily="34" charset="0"/>
                <a:cs typeface="Calibri" panose="020F0502020204030204" pitchFamily="34" charset="0"/>
              </a:rPr>
              <a:t> in this </a:t>
            </a:r>
            <a:r>
              <a:rPr lang="en-US" sz="4900" dirty="0">
                <a:solidFill>
                  <a:srgbClr val="7F7F7F"/>
                </a:solidFill>
                <a:latin typeface="Calibri" pitchFamily="34" charset="0"/>
                <a:cs typeface="Calibri" panose="020F0502020204030204" pitchFamily="34" charset="0"/>
              </a:rPr>
              <a:t>poster are ones</a:t>
            </a:r>
            <a:r>
              <a:rPr lang="en-US" sz="4900" baseline="0" dirty="0">
                <a:solidFill>
                  <a:srgbClr val="7F7F7F"/>
                </a:solidFill>
                <a:latin typeface="Calibri" pitchFamily="34" charset="0"/>
                <a:cs typeface="Calibri" panose="020F0502020204030204" pitchFamily="34" charset="0"/>
              </a:rPr>
              <a:t> we often see in medical, research, and scientific posters.</a:t>
            </a:r>
            <a:r>
              <a:rPr sz="4900" dirty="0">
                <a:solidFill>
                  <a:srgbClr val="7F7F7F"/>
                </a:solidFill>
                <a:latin typeface="Calibri" pitchFamily="34" charset="0"/>
                <a:cs typeface="Calibri" panose="020F0502020204030204" pitchFamily="34" charset="0"/>
              </a:rPr>
              <a:t> </a:t>
            </a:r>
            <a:r>
              <a:rPr lang="en-US" sz="4900" dirty="0">
                <a:solidFill>
                  <a:srgbClr val="7F7F7F"/>
                </a:solidFill>
                <a:latin typeface="Calibri" pitchFamily="34" charset="0"/>
                <a:cs typeface="Calibri" panose="020F0502020204030204" pitchFamily="34" charset="0"/>
              </a:rPr>
              <a:t>Feel</a:t>
            </a:r>
            <a:r>
              <a:rPr lang="en-US" sz="49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Image</a:t>
            </a:r>
            <a:r>
              <a:rPr lang="en-US" sz="7200" baseline="0" dirty="0">
                <a:solidFill>
                  <a:srgbClr val="7F7F7F"/>
                </a:solidFill>
                <a:latin typeface="Calibri" pitchFamily="34" charset="0"/>
                <a:cs typeface="Calibri" panose="020F0502020204030204" pitchFamily="34" charset="0"/>
              </a:rPr>
              <a:t> Quality</a:t>
            </a:r>
            <a:r>
              <a:rPr lang="en-US" sz="7200" dirty="0">
                <a:solidFill>
                  <a:srgbClr val="7F7F7F"/>
                </a:solidFill>
                <a:latin typeface="Calibri" pitchFamily="34" charset="0"/>
                <a:cs typeface="Calibri" panose="020F0502020204030204" pitchFamily="34" charset="0"/>
              </a:rPr>
              <a:t>:</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You can place digital photos or logo art in your poster file by selecting the </a:t>
            </a:r>
            <a:r>
              <a:rPr lang="en-US" sz="4900" b="1" dirty="0">
                <a:solidFill>
                  <a:srgbClr val="7F7F7F"/>
                </a:solidFill>
                <a:latin typeface="Calibri" pitchFamily="34" charset="0"/>
                <a:cs typeface="Calibri" panose="020F0502020204030204" pitchFamily="34" charset="0"/>
              </a:rPr>
              <a:t>Insert, Picture</a:t>
            </a:r>
            <a:r>
              <a:rPr lang="en-US" sz="49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4900" b="1" dirty="0">
                <a:solidFill>
                  <a:srgbClr val="7F7F7F"/>
                </a:solidFill>
                <a:latin typeface="Calibri" pitchFamily="34" charset="0"/>
                <a:cs typeface="Calibri" panose="020F0502020204030204" pitchFamily="34" charset="0"/>
              </a:rPr>
              <a:t>150-200 pixels per inch in their final printed size</a:t>
            </a:r>
            <a:r>
              <a:rPr lang="en-US" sz="4900" dirty="0">
                <a:solidFill>
                  <a:srgbClr val="7F7F7F"/>
                </a:solidFill>
                <a:latin typeface="Calibri" pitchFamily="34" charset="0"/>
                <a:cs typeface="Calibri" panose="020F0502020204030204" pitchFamily="34" charset="0"/>
              </a:rPr>
              <a:t>. For instance, a 1600 x 1200 pixel</a:t>
            </a:r>
            <a:r>
              <a:rPr lang="en-US" sz="4900" baseline="0" dirty="0">
                <a:solidFill>
                  <a:srgbClr val="7F7F7F"/>
                </a:solidFill>
                <a:latin typeface="Calibri" pitchFamily="34" charset="0"/>
                <a:cs typeface="Calibri" panose="020F0502020204030204" pitchFamily="34" charset="0"/>
              </a:rPr>
              <a:t> photo will usually look fine up to </a:t>
            </a:r>
            <a:r>
              <a:rPr lang="en-US" sz="4900" dirty="0">
                <a:solidFill>
                  <a:srgbClr val="7F7F7F"/>
                </a:solidFill>
                <a:latin typeface="Calibri" pitchFamily="34" charset="0"/>
                <a:cs typeface="Calibri" panose="020F0502020204030204" pitchFamily="34" charset="0"/>
              </a:rPr>
              <a:t>8“-10” wide on your printed poster.</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800"/>
              </a:spcAft>
            </a:pPr>
            <a:r>
              <a:rPr lang="en-US" sz="3600" dirty="0">
                <a:solidFill>
                  <a:srgbClr val="7F7F7F"/>
                </a:solidFill>
                <a:latin typeface="Calibri" pitchFamily="34" charset="0"/>
                <a:cs typeface="Calibri" panose="020F0502020204030204" pitchFamily="34" charset="0"/>
              </a:rPr>
              <a:t/>
            </a:r>
            <a:br>
              <a:rPr lang="en-US" sz="3600" dirty="0">
                <a:solidFill>
                  <a:srgbClr val="7F7F7F"/>
                </a:solidFill>
                <a:latin typeface="Calibri" pitchFamily="34" charset="0"/>
                <a:cs typeface="Calibri" panose="020F0502020204030204" pitchFamily="34" charset="0"/>
              </a:rPr>
            </a:br>
            <a:r>
              <a:rPr lang="en-US" sz="3600" dirty="0">
                <a:solidFill>
                  <a:srgbClr val="7F7F7F"/>
                </a:solidFill>
                <a:latin typeface="Calibri" pitchFamily="34" charset="0"/>
                <a:cs typeface="Calibri" panose="020F0502020204030204" pitchFamily="34" charset="0"/>
              </a:rPr>
              <a:t>[This sidebar area does not print.]</a:t>
            </a:r>
          </a:p>
        </p:txBody>
      </p:sp>
      <p:grpSp>
        <p:nvGrpSpPr>
          <p:cNvPr id="12" name="Group 11"/>
          <p:cNvGrpSpPr/>
          <p:nvPr userDrawn="1"/>
        </p:nvGrpSpPr>
        <p:grpSpPr>
          <a:xfrm>
            <a:off x="44805600" y="0"/>
            <a:ext cx="9601200" cy="329184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Change</a:t>
              </a:r>
              <a:r>
                <a:rPr lang="en-US" sz="7200" baseline="0" dirty="0">
                  <a:solidFill>
                    <a:schemeClr val="bg1">
                      <a:lumMod val="50000"/>
                    </a:schemeClr>
                  </a:solidFill>
                  <a:latin typeface="Calibri" pitchFamily="34" charset="0"/>
                  <a:cs typeface="Calibri" panose="020F0502020204030204" pitchFamily="34" charset="0"/>
                </a:rPr>
                <a:t> Color Theme</a:t>
              </a:r>
              <a:r>
                <a:rPr lang="en-US" sz="7200" dirty="0">
                  <a:solidFill>
                    <a:schemeClr val="bg1">
                      <a:lumMod val="50000"/>
                    </a:schemeClr>
                  </a:solidFill>
                  <a:latin typeface="Calibri" pitchFamily="34" charset="0"/>
                  <a:cs typeface="Calibri" panose="020F0502020204030204" pitchFamily="34" charset="0"/>
                </a:rPr>
                <a:t>:</a:t>
              </a:r>
              <a:endParaRPr sz="720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49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To change the color theme, select the </a:t>
              </a:r>
              <a:r>
                <a:rPr lang="en-US" sz="4900" b="1" baseline="0" dirty="0">
                  <a:solidFill>
                    <a:schemeClr val="bg1">
                      <a:lumMod val="50000"/>
                    </a:schemeClr>
                  </a:solidFill>
                  <a:latin typeface="Calibri" pitchFamily="34" charset="0"/>
                  <a:cs typeface="Calibri" panose="020F0502020204030204" pitchFamily="34" charset="0"/>
                </a:rPr>
                <a:t>Design</a:t>
              </a:r>
              <a:r>
                <a:rPr lang="en-US" sz="4900" baseline="0" dirty="0">
                  <a:solidFill>
                    <a:schemeClr val="bg1">
                      <a:lumMod val="50000"/>
                    </a:schemeClr>
                  </a:solidFill>
                  <a:latin typeface="Calibri" pitchFamily="34" charset="0"/>
                  <a:cs typeface="Calibri" panose="020F0502020204030204" pitchFamily="34" charset="0"/>
                </a:rPr>
                <a:t> tab, then select the </a:t>
              </a:r>
              <a:r>
                <a:rPr lang="en-US" sz="4900" b="1" baseline="0" dirty="0">
                  <a:solidFill>
                    <a:schemeClr val="bg1">
                      <a:lumMod val="50000"/>
                    </a:schemeClr>
                  </a:solidFill>
                  <a:latin typeface="Calibri" pitchFamily="34" charset="0"/>
                  <a:cs typeface="Calibri" panose="020F0502020204030204" pitchFamily="34" charset="0"/>
                </a:rPr>
                <a:t>Colors</a:t>
              </a:r>
              <a:r>
                <a:rPr lang="en-US" sz="49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Once your poster file is ready, visit</a:t>
              </a:r>
              <a:r>
                <a:rPr lang="en-US" sz="4900" baseline="0" dirty="0">
                  <a:solidFill>
                    <a:schemeClr val="bg1">
                      <a:lumMod val="50000"/>
                    </a:schemeClr>
                  </a:solidFill>
                  <a:latin typeface="Calibri" pitchFamily="34" charset="0"/>
                  <a:cs typeface="Calibri" panose="020F0502020204030204" pitchFamily="34" charset="0"/>
                </a:rPr>
                <a:t> </a:t>
              </a:r>
              <a:r>
                <a:rPr lang="en-US" sz="4900" b="1" baseline="0" dirty="0">
                  <a:solidFill>
                    <a:schemeClr val="bg1">
                      <a:lumMod val="50000"/>
                    </a:schemeClr>
                  </a:solidFill>
                  <a:latin typeface="Calibri" pitchFamily="34" charset="0"/>
                  <a:cs typeface="Calibri" panose="020F0502020204030204" pitchFamily="34" charset="0"/>
                </a:rPr>
                <a:t>www.genigraphics.com</a:t>
              </a:r>
              <a:r>
                <a:rPr lang="en-US" sz="49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49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900" baseline="0" dirty="0">
                  <a:solidFill>
                    <a:schemeClr val="bg1">
                      <a:lumMod val="50000"/>
                    </a:schemeClr>
                  </a:solidFill>
                  <a:latin typeface="Calibri" pitchFamily="34" charset="0"/>
                  <a:cs typeface="Calibri" panose="020F0502020204030204" pitchFamily="34" charset="0"/>
                </a:rPr>
                <a:t>US and Canada:  1-800-790-4001</a:t>
              </a:r>
              <a:br>
                <a:rPr lang="en-US" sz="4900" baseline="0" dirty="0">
                  <a:solidFill>
                    <a:schemeClr val="bg1">
                      <a:lumMod val="50000"/>
                    </a:schemeClr>
                  </a:solidFill>
                  <a:latin typeface="Calibri" pitchFamily="34" charset="0"/>
                  <a:cs typeface="Calibri" panose="020F0502020204030204" pitchFamily="34" charset="0"/>
                </a:rPr>
              </a:br>
              <a:r>
                <a:rPr lang="en-US" sz="49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r>
                <a:rPr lang="en-US" sz="3600" dirty="0">
                  <a:solidFill>
                    <a:schemeClr val="bg1">
                      <a:lumMod val="50000"/>
                    </a:schemeClr>
                  </a:solidFill>
                  <a:latin typeface="Calibri" pitchFamily="34" charset="0"/>
                  <a:cs typeface="Calibri" panose="020F0502020204030204" pitchFamily="34" charset="0"/>
                </a:rPr>
                <a:t/>
              </a:r>
              <a:br>
                <a:rPr lang="en-US" sz="3600" dirty="0">
                  <a:solidFill>
                    <a:schemeClr val="bg1">
                      <a:lumMod val="50000"/>
                    </a:schemeClr>
                  </a:solidFill>
                  <a:latin typeface="Calibri" pitchFamily="34" charset="0"/>
                  <a:cs typeface="Calibri" panose="020F0502020204030204" pitchFamily="34" charset="0"/>
                </a:rPr>
              </a:br>
              <a:r>
                <a:rPr lang="en-US" sz="36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grpSp>
        <p:nvGrpSpPr>
          <p:cNvPr id="8" name="Group 7"/>
          <p:cNvGrpSpPr/>
          <p:nvPr userDrawn="1"/>
        </p:nvGrpSpPr>
        <p:grpSpPr>
          <a:xfrm>
            <a:off x="7033287" y="-1257300"/>
            <a:ext cx="29923713" cy="35653980"/>
            <a:chOff x="7033287" y="-1257300"/>
            <a:chExt cx="29923713" cy="35653980"/>
          </a:xfrm>
        </p:grpSpPr>
        <p:sp>
          <p:nvSpPr>
            <p:cNvPr id="2" name="TextBox 1"/>
            <p:cNvSpPr txBox="1"/>
            <p:nvPr userDrawn="1"/>
          </p:nvSpPr>
          <p:spPr>
            <a:xfrm>
              <a:off x="7033287" y="-1247269"/>
              <a:ext cx="3634713" cy="1077218"/>
            </a:xfrm>
            <a:prstGeom prst="rect">
              <a:avLst/>
            </a:prstGeom>
            <a:noFill/>
          </p:spPr>
          <p:txBody>
            <a:bodyPr wrap="none" rtlCol="0">
              <a:spAutoFit/>
            </a:bodyPr>
            <a:lstStyle/>
            <a:p>
              <a:r>
                <a:rPr lang="en-US" dirty="0">
                  <a:solidFill>
                    <a:srgbClr val="7F7F7F"/>
                  </a:solidFill>
                </a:rPr>
                <a:t>Folds here</a:t>
              </a:r>
            </a:p>
          </p:txBody>
        </p:sp>
        <p:cxnSp>
          <p:nvCxnSpPr>
            <p:cNvPr id="4" name="Straight Arrow Connector 3"/>
            <p:cNvCxnSpPr/>
            <p:nvPr userDrawn="1"/>
          </p:nvCxnSpPr>
          <p:spPr>
            <a:xfrm>
              <a:off x="10972800" y="-1257300"/>
              <a:ext cx="0" cy="1097280"/>
            </a:xfrm>
            <a:prstGeom prst="straightConnector1">
              <a:avLst/>
            </a:prstGeom>
            <a:ln w="63500">
              <a:solidFill>
                <a:srgbClr val="7F7F7F"/>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userDrawn="1"/>
          </p:nvSpPr>
          <p:spPr>
            <a:xfrm>
              <a:off x="33322287" y="-1247269"/>
              <a:ext cx="3634713" cy="1077218"/>
            </a:xfrm>
            <a:prstGeom prst="rect">
              <a:avLst/>
            </a:prstGeom>
            <a:noFill/>
          </p:spPr>
          <p:txBody>
            <a:bodyPr wrap="none" rtlCol="0">
              <a:spAutoFit/>
            </a:bodyPr>
            <a:lstStyle/>
            <a:p>
              <a:r>
                <a:rPr lang="en-US" dirty="0">
                  <a:solidFill>
                    <a:srgbClr val="7F7F7F"/>
                  </a:solidFill>
                </a:rPr>
                <a:t>Folds here</a:t>
              </a:r>
            </a:p>
          </p:txBody>
        </p:sp>
        <p:cxnSp>
          <p:nvCxnSpPr>
            <p:cNvPr id="20" name="Straight Arrow Connector 19"/>
            <p:cNvCxnSpPr/>
            <p:nvPr userDrawn="1"/>
          </p:nvCxnSpPr>
          <p:spPr>
            <a:xfrm>
              <a:off x="32918400" y="-1257300"/>
              <a:ext cx="0" cy="1097280"/>
            </a:xfrm>
            <a:prstGeom prst="straightConnector1">
              <a:avLst/>
            </a:prstGeom>
            <a:ln w="63500">
              <a:solidFill>
                <a:srgbClr val="7F7F7F"/>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userDrawn="1"/>
          </p:nvSpPr>
          <p:spPr>
            <a:xfrm>
              <a:off x="7033287" y="33309431"/>
              <a:ext cx="3634713" cy="1077218"/>
            </a:xfrm>
            <a:prstGeom prst="rect">
              <a:avLst/>
            </a:prstGeom>
            <a:noFill/>
          </p:spPr>
          <p:txBody>
            <a:bodyPr wrap="none" rtlCol="0">
              <a:spAutoFit/>
            </a:bodyPr>
            <a:lstStyle/>
            <a:p>
              <a:r>
                <a:rPr lang="en-US" dirty="0">
                  <a:solidFill>
                    <a:srgbClr val="7F7F7F"/>
                  </a:solidFill>
                </a:rPr>
                <a:t>Folds here</a:t>
              </a:r>
            </a:p>
          </p:txBody>
        </p:sp>
        <p:cxnSp>
          <p:nvCxnSpPr>
            <p:cNvPr id="22" name="Straight Arrow Connector 21"/>
            <p:cNvCxnSpPr/>
            <p:nvPr userDrawn="1"/>
          </p:nvCxnSpPr>
          <p:spPr>
            <a:xfrm>
              <a:off x="10972800" y="33299400"/>
              <a:ext cx="0" cy="1097280"/>
            </a:xfrm>
            <a:prstGeom prst="straightConnector1">
              <a:avLst/>
            </a:prstGeom>
            <a:ln w="63500">
              <a:solidFill>
                <a:srgbClr val="7F7F7F"/>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33322287" y="33309431"/>
              <a:ext cx="3634713" cy="1077218"/>
            </a:xfrm>
            <a:prstGeom prst="rect">
              <a:avLst/>
            </a:prstGeom>
            <a:noFill/>
          </p:spPr>
          <p:txBody>
            <a:bodyPr wrap="none" rtlCol="0">
              <a:spAutoFit/>
            </a:bodyPr>
            <a:lstStyle/>
            <a:p>
              <a:r>
                <a:rPr lang="en-US" dirty="0">
                  <a:solidFill>
                    <a:srgbClr val="7F7F7F"/>
                  </a:solidFill>
                </a:rPr>
                <a:t>Folds here</a:t>
              </a:r>
            </a:p>
          </p:txBody>
        </p:sp>
        <p:cxnSp>
          <p:nvCxnSpPr>
            <p:cNvPr id="24" name="Straight Arrow Connector 23"/>
            <p:cNvCxnSpPr/>
            <p:nvPr userDrawn="1"/>
          </p:nvCxnSpPr>
          <p:spPr>
            <a:xfrm>
              <a:off x="32918400" y="33299400"/>
              <a:ext cx="0" cy="1097280"/>
            </a:xfrm>
            <a:prstGeom prst="straightConnector1">
              <a:avLst/>
            </a:prstGeom>
            <a:ln w="63500">
              <a:solidFill>
                <a:srgbClr val="7F7F7F"/>
              </a:solidFill>
              <a:headEnd type="arrow"/>
              <a:tailEnd type="none"/>
            </a:ln>
          </p:spPr>
          <p:style>
            <a:lnRef idx="1">
              <a:schemeClr val="accent1"/>
            </a:lnRef>
            <a:fillRef idx="0">
              <a:schemeClr val="accent1"/>
            </a:fillRef>
            <a:effectRef idx="0">
              <a:schemeClr val="accent1"/>
            </a:effectRef>
            <a:fontRef idx="minor">
              <a:schemeClr val="tx1"/>
            </a:fontRef>
          </p:style>
        </p:cxnSp>
      </p:gr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404800" y="32613600"/>
            <a:ext cx="5297435" cy="185928"/>
          </a:xfrm>
          <a:prstGeom prst="rect">
            <a:avLst/>
          </a:prstGeom>
        </p:spPr>
      </p:pic>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329128" tIns="164564" rIns="329128" bIns="164564" rtlCol="0" anchor="ctr">
            <a:normAutofit/>
          </a:bodyPr>
          <a:lstStyle/>
          <a:p>
            <a:r>
              <a:rPr lang="en-US" dirty="0"/>
              <a:t>Click to edit Master title style</a:t>
            </a:r>
          </a:p>
        </p:txBody>
      </p:sp>
      <p:sp>
        <p:nvSpPr>
          <p:cNvPr id="3" name="Text Placeholder 2"/>
          <p:cNvSpPr>
            <a:spLocks noGrp="1"/>
          </p:cNvSpPr>
          <p:nvPr>
            <p:ph type="body" idx="1"/>
          </p:nvPr>
        </p:nvSpPr>
        <p:spPr>
          <a:xfrm>
            <a:off x="2194560" y="7680963"/>
            <a:ext cx="39502080" cy="21724623"/>
          </a:xfrm>
          <a:prstGeom prst="rect">
            <a:avLst/>
          </a:prstGeom>
        </p:spPr>
        <p:txBody>
          <a:bodyPr vert="horz" lIns="329128" tIns="164564" rIns="329128" bIns="16456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194560" y="30510483"/>
            <a:ext cx="10241280" cy="1752600"/>
          </a:xfrm>
          <a:prstGeom prst="rect">
            <a:avLst/>
          </a:prstGeom>
        </p:spPr>
        <p:txBody>
          <a:bodyPr vert="horz" lIns="329128" tIns="164564" rIns="329128" bIns="164564" rtlCol="0" anchor="ctr"/>
          <a:lstStyle>
            <a:lvl1pPr algn="l">
              <a:defRPr sz="4400">
                <a:solidFill>
                  <a:schemeClr val="tx1">
                    <a:tint val="75000"/>
                  </a:schemeClr>
                </a:solidFill>
              </a:defRPr>
            </a:lvl1pPr>
          </a:lstStyle>
          <a:p>
            <a:fld id="{985D6BDF-9D0E-4E2B-85B8-D8F4790360C9}" type="datetimeFigureOut">
              <a:rPr lang="en-US" smtClean="0"/>
              <a:t>11/19/2025</a:t>
            </a:fld>
            <a:endParaRPr lang="en-US" dirty="0"/>
          </a:p>
        </p:txBody>
      </p:sp>
      <p:sp>
        <p:nvSpPr>
          <p:cNvPr id="5" name="Footer Placeholder 4"/>
          <p:cNvSpPr>
            <a:spLocks noGrp="1"/>
          </p:cNvSpPr>
          <p:nvPr>
            <p:ph type="ftr" sz="quarter" idx="3"/>
          </p:nvPr>
        </p:nvSpPr>
        <p:spPr>
          <a:xfrm>
            <a:off x="14996160" y="30510483"/>
            <a:ext cx="13898880" cy="1752600"/>
          </a:xfrm>
          <a:prstGeom prst="rect">
            <a:avLst/>
          </a:prstGeom>
        </p:spPr>
        <p:txBody>
          <a:bodyPr vert="horz" lIns="329128" tIns="164564" rIns="329128" bIns="164564" rtlCol="0" anchor="ctr"/>
          <a:lstStyle>
            <a:lvl1pPr algn="ctr">
              <a:defRPr sz="44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1455360" y="30510483"/>
            <a:ext cx="10241280" cy="1752600"/>
          </a:xfrm>
          <a:prstGeom prst="rect">
            <a:avLst/>
          </a:prstGeom>
        </p:spPr>
        <p:txBody>
          <a:bodyPr vert="horz" lIns="329128" tIns="164564" rIns="329128" bIns="164564" rtlCol="0" anchor="ctr"/>
          <a:lstStyle>
            <a:lvl1pPr algn="r">
              <a:defRPr sz="44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3291279" rtl="0" eaLnBrk="1" latinLnBrk="0" hangingPunct="1">
        <a:spcBef>
          <a:spcPct val="0"/>
        </a:spcBef>
        <a:buNone/>
        <a:defRPr sz="6000" kern="1200">
          <a:solidFill>
            <a:schemeClr val="tx1"/>
          </a:solidFill>
          <a:latin typeface="+mj-lt"/>
          <a:ea typeface="+mj-ea"/>
          <a:cs typeface="+mj-cs"/>
        </a:defRPr>
      </a:lvl1pPr>
    </p:titleStyle>
    <p:bodyStyle>
      <a:lvl1pPr marL="342842"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1pPr>
      <a:lvl2pPr marL="685683"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2pPr>
      <a:lvl3pPr marL="1028525"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371366"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4pPr>
      <a:lvl5pPr marL="1714209" indent="-342842" algn="l" defTabSz="3291279" rtl="0" eaLnBrk="1" latinLnBrk="0" hangingPunct="1">
        <a:spcBef>
          <a:spcPct val="20000"/>
        </a:spcBef>
        <a:buFont typeface="Arial" pitchFamily="34" charset="0"/>
        <a:buChar char="»"/>
        <a:defRPr sz="2700" kern="1200">
          <a:solidFill>
            <a:schemeClr val="tx1"/>
          </a:solidFill>
          <a:latin typeface="+mn-lt"/>
          <a:ea typeface="+mn-ea"/>
          <a:cs typeface="+mn-cs"/>
        </a:defRPr>
      </a:lvl5pPr>
      <a:lvl6pPr marL="9051018"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6pPr>
      <a:lvl7pPr marL="10696658"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7pPr>
      <a:lvl8pPr marL="12342297"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8pPr>
      <a:lvl9pPr marL="13987936" indent="-822820" algn="l" defTabSz="3291279" rtl="0" eaLnBrk="1" latinLnBrk="0" hangingPunct="1">
        <a:spcBef>
          <a:spcPct val="20000"/>
        </a:spcBef>
        <a:buFont typeface="Arial" pitchFamily="34" charset="0"/>
        <a:buChar char="•"/>
        <a:defRPr sz="7200" kern="1200">
          <a:solidFill>
            <a:schemeClr val="tx1"/>
          </a:solidFill>
          <a:latin typeface="+mn-lt"/>
          <a:ea typeface="+mn-ea"/>
          <a:cs typeface="+mn-cs"/>
        </a:defRPr>
      </a:lvl9pPr>
    </p:bodyStyle>
    <p:otherStyle>
      <a:defPPr>
        <a:defRPr lang="en-US"/>
      </a:defPPr>
      <a:lvl1pPr marL="0" algn="l" defTabSz="3291279" rtl="0" eaLnBrk="1" latinLnBrk="0" hangingPunct="1">
        <a:defRPr sz="6400" kern="1200">
          <a:solidFill>
            <a:schemeClr val="tx1"/>
          </a:solidFill>
          <a:latin typeface="+mn-lt"/>
          <a:ea typeface="+mn-ea"/>
          <a:cs typeface="+mn-cs"/>
        </a:defRPr>
      </a:lvl1pPr>
      <a:lvl2pPr marL="1645640" algn="l" defTabSz="3291279" rtl="0" eaLnBrk="1" latinLnBrk="0" hangingPunct="1">
        <a:defRPr sz="6400" kern="1200">
          <a:solidFill>
            <a:schemeClr val="tx1"/>
          </a:solidFill>
          <a:latin typeface="+mn-lt"/>
          <a:ea typeface="+mn-ea"/>
          <a:cs typeface="+mn-cs"/>
        </a:defRPr>
      </a:lvl2pPr>
      <a:lvl3pPr marL="3291279" algn="l" defTabSz="3291279" rtl="0" eaLnBrk="1" latinLnBrk="0" hangingPunct="1">
        <a:defRPr sz="6400" kern="1200">
          <a:solidFill>
            <a:schemeClr val="tx1"/>
          </a:solidFill>
          <a:latin typeface="+mn-lt"/>
          <a:ea typeface="+mn-ea"/>
          <a:cs typeface="+mn-cs"/>
        </a:defRPr>
      </a:lvl3pPr>
      <a:lvl4pPr marL="4936919" algn="l" defTabSz="3291279" rtl="0" eaLnBrk="1" latinLnBrk="0" hangingPunct="1">
        <a:defRPr sz="6400" kern="1200">
          <a:solidFill>
            <a:schemeClr val="tx1"/>
          </a:solidFill>
          <a:latin typeface="+mn-lt"/>
          <a:ea typeface="+mn-ea"/>
          <a:cs typeface="+mn-cs"/>
        </a:defRPr>
      </a:lvl4pPr>
      <a:lvl5pPr marL="6582559" algn="l" defTabSz="3291279" rtl="0" eaLnBrk="1" latinLnBrk="0" hangingPunct="1">
        <a:defRPr sz="6400" kern="1200">
          <a:solidFill>
            <a:schemeClr val="tx1"/>
          </a:solidFill>
          <a:latin typeface="+mn-lt"/>
          <a:ea typeface="+mn-ea"/>
          <a:cs typeface="+mn-cs"/>
        </a:defRPr>
      </a:lvl5pPr>
      <a:lvl6pPr marL="8228198" algn="l" defTabSz="3291279" rtl="0" eaLnBrk="1" latinLnBrk="0" hangingPunct="1">
        <a:defRPr sz="6400" kern="1200">
          <a:solidFill>
            <a:schemeClr val="tx1"/>
          </a:solidFill>
          <a:latin typeface="+mn-lt"/>
          <a:ea typeface="+mn-ea"/>
          <a:cs typeface="+mn-cs"/>
        </a:defRPr>
      </a:lvl6pPr>
      <a:lvl7pPr marL="9873837" algn="l" defTabSz="3291279" rtl="0" eaLnBrk="1" latinLnBrk="0" hangingPunct="1">
        <a:defRPr sz="6400" kern="1200">
          <a:solidFill>
            <a:schemeClr val="tx1"/>
          </a:solidFill>
          <a:latin typeface="+mn-lt"/>
          <a:ea typeface="+mn-ea"/>
          <a:cs typeface="+mn-cs"/>
        </a:defRPr>
      </a:lvl7pPr>
      <a:lvl8pPr marL="11519478" algn="l" defTabSz="3291279" rtl="0" eaLnBrk="1" latinLnBrk="0" hangingPunct="1">
        <a:defRPr sz="6400" kern="1200">
          <a:solidFill>
            <a:schemeClr val="tx1"/>
          </a:solidFill>
          <a:latin typeface="+mn-lt"/>
          <a:ea typeface="+mn-ea"/>
          <a:cs typeface="+mn-cs"/>
        </a:defRPr>
      </a:lvl8pPr>
      <a:lvl9pPr marL="13165118" algn="l" defTabSz="3291279" rtl="0" eaLnBrk="1" latinLnBrk="0" hangingPunct="1">
        <a:defRPr sz="6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9234288" y="0"/>
            <a:ext cx="34566624" cy="2651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91440" rIns="137137" bIns="91440" anchor="ctr" anchorCtr="0">
            <a:norm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200" b="1" dirty="0">
                <a:solidFill>
                  <a:schemeClr val="accent3">
                    <a:lumMod val="20000"/>
                    <a:lumOff val="80000"/>
                  </a:schemeClr>
                </a:solidFill>
                <a:latin typeface="+mn-lt"/>
              </a:rPr>
              <a:t>Koneru Lakshmaiah Education Foundation, Hyderabad(Aziz </a:t>
            </a:r>
            <a:r>
              <a:rPr lang="en-US" sz="7200" b="1" dirty="0" err="1">
                <a:solidFill>
                  <a:schemeClr val="accent3">
                    <a:lumMod val="20000"/>
                    <a:lumOff val="80000"/>
                  </a:schemeClr>
                </a:solidFill>
                <a:latin typeface="+mn-lt"/>
              </a:rPr>
              <a:t>Nagar,Off</a:t>
            </a:r>
            <a:r>
              <a:rPr lang="en-US" sz="7200" b="1" dirty="0">
                <a:solidFill>
                  <a:schemeClr val="accent3">
                    <a:lumMod val="20000"/>
                    <a:lumOff val="80000"/>
                  </a:schemeClr>
                </a:solidFill>
                <a:latin typeface="+mn-lt"/>
              </a:rPr>
              <a:t> Campus)</a:t>
            </a:r>
          </a:p>
          <a:p>
            <a:pPr algn="ctr" eaLnBrk="1" hangingPunct="1"/>
            <a:r>
              <a:rPr lang="en-US" sz="7200" b="1" dirty="0">
                <a:solidFill>
                  <a:schemeClr val="accent3">
                    <a:lumMod val="20000"/>
                    <a:lumOff val="80000"/>
                  </a:schemeClr>
                </a:solidFill>
                <a:latin typeface="+mn-lt"/>
              </a:rPr>
              <a:t>Replace This Text With Your Title</a:t>
            </a:r>
          </a:p>
        </p:txBody>
      </p:sp>
      <p:sp>
        <p:nvSpPr>
          <p:cNvPr id="5" name="Text Box 123"/>
          <p:cNvSpPr txBox="1">
            <a:spLocks noChangeArrowheads="1"/>
          </p:cNvSpPr>
          <p:nvPr/>
        </p:nvSpPr>
        <p:spPr bwMode="auto">
          <a:xfrm>
            <a:off x="9234288" y="2377440"/>
            <a:ext cx="34656912"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91440" rIns="137137" bIns="91440" anchor="ctr" anchorCtr="0">
            <a:norm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000" dirty="0">
                <a:solidFill>
                  <a:schemeClr val="accent3">
                    <a:lumMod val="20000"/>
                    <a:lumOff val="80000"/>
                  </a:schemeClr>
                </a:solidFill>
                <a:latin typeface="+mn-lt"/>
              </a:rPr>
              <a:t>Student name1 student name 2student name 3 student name 4</a:t>
            </a:r>
          </a:p>
          <a:p>
            <a:pPr algn="ctr" eaLnBrk="1" hangingPunct="1"/>
            <a:endParaRPr lang="en-US" sz="4000" baseline="30000" dirty="0">
              <a:solidFill>
                <a:schemeClr val="accent3">
                  <a:lumMod val="20000"/>
                  <a:lumOff val="80000"/>
                </a:schemeClr>
              </a:solidFill>
              <a:latin typeface="+mn-lt"/>
            </a:endParaRPr>
          </a:p>
          <a:p>
            <a:pPr algn="ctr" eaLnBrk="1" hangingPunct="1"/>
            <a:r>
              <a:rPr lang="en-US" sz="4000" baseline="30000" dirty="0">
                <a:solidFill>
                  <a:schemeClr val="accent3">
                    <a:lumMod val="20000"/>
                    <a:lumOff val="80000"/>
                  </a:schemeClr>
                </a:solidFill>
                <a:latin typeface="+mn-lt"/>
              </a:rPr>
              <a:t>Department of Computer Science and Engineering, Koneru Lakshmaiah Education Foundation, Hyderabad-500075, Telangana, India.</a:t>
            </a:r>
          </a:p>
        </p:txBody>
      </p:sp>
      <p:sp>
        <p:nvSpPr>
          <p:cNvPr id="24" name="TextBox 23"/>
          <p:cNvSpPr txBox="1"/>
          <p:nvPr/>
        </p:nvSpPr>
        <p:spPr>
          <a:xfrm>
            <a:off x="1463038" y="30038039"/>
            <a:ext cx="11338561" cy="2223674"/>
          </a:xfrm>
          <a:prstGeom prst="rect">
            <a:avLst/>
          </a:prstGeom>
          <a:noFill/>
        </p:spPr>
        <p:txBody>
          <a:bodyPr wrap="square" lIns="91440" tIns="91440" rIns="91440" bIns="91440" rtlCol="0">
            <a:normAutofit/>
          </a:bodyPr>
          <a:lstStyle/>
          <a:p>
            <a:pPr algn="ctr"/>
            <a:r>
              <a:rPr lang="en-US" sz="2800" dirty="0" smtClean="0"/>
              <a:t>&lt;Guide </a:t>
            </a:r>
            <a:r>
              <a:rPr lang="en-US" sz="2800" dirty="0"/>
              <a:t>name&gt;</a:t>
            </a:r>
          </a:p>
          <a:p>
            <a:pPr algn="ctr"/>
            <a:r>
              <a:rPr lang="en-US" sz="2800" dirty="0" smtClean="0"/>
              <a:t>Website</a:t>
            </a:r>
            <a:r>
              <a:rPr lang="en-US" sz="2800" dirty="0"/>
              <a:t>:</a:t>
            </a:r>
          </a:p>
          <a:p>
            <a:pPr algn="ctr"/>
            <a:r>
              <a:rPr lang="en-US" sz="2800" dirty="0"/>
              <a:t>Phone:</a:t>
            </a:r>
          </a:p>
        </p:txBody>
      </p:sp>
      <p:sp>
        <p:nvSpPr>
          <p:cNvPr id="25" name="TextBox 24"/>
          <p:cNvSpPr txBox="1"/>
          <p:nvPr/>
        </p:nvSpPr>
        <p:spPr>
          <a:xfrm>
            <a:off x="1463040" y="29146502"/>
            <a:ext cx="9144000" cy="746346"/>
          </a:xfrm>
          <a:prstGeom prst="rect">
            <a:avLst/>
          </a:prstGeom>
          <a:noFill/>
        </p:spPr>
        <p:txBody>
          <a:bodyPr wrap="none" lIns="68568" tIns="34284" rIns="68568" bIns="34284" rtlCol="0">
            <a:noAutofit/>
          </a:bodyPr>
          <a:lstStyle/>
          <a:p>
            <a:pPr algn="ctr"/>
            <a:r>
              <a:rPr lang="en-US" sz="4400" b="1" dirty="0"/>
              <a:t>Contact Information</a:t>
            </a:r>
          </a:p>
        </p:txBody>
      </p:sp>
      <p:sp>
        <p:nvSpPr>
          <p:cNvPr id="26" name="TextBox 25"/>
          <p:cNvSpPr txBox="1"/>
          <p:nvPr/>
        </p:nvSpPr>
        <p:spPr>
          <a:xfrm>
            <a:off x="12801600" y="30038039"/>
            <a:ext cx="18288000" cy="2339102"/>
          </a:xfrm>
          <a:prstGeom prst="rect">
            <a:avLst/>
          </a:prstGeom>
          <a:noFill/>
          <a:ln>
            <a:noFill/>
          </a:ln>
        </p:spPr>
        <p:txBody>
          <a:bodyPr wrap="square" lIns="91440" tIns="91440" rIns="91440" bIns="91440" numCol="1" spcCol="342842" rtlCol="0">
            <a:normAutofit/>
          </a:bodyPr>
          <a:lstStyle/>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p:txBody>
      </p:sp>
      <p:sp>
        <p:nvSpPr>
          <p:cNvPr id="27" name="TextBox 26"/>
          <p:cNvSpPr txBox="1"/>
          <p:nvPr/>
        </p:nvSpPr>
        <p:spPr>
          <a:xfrm>
            <a:off x="12801600" y="29146502"/>
            <a:ext cx="18288000" cy="685800"/>
          </a:xfrm>
          <a:prstGeom prst="rect">
            <a:avLst/>
          </a:prstGeom>
          <a:noFill/>
          <a:ln>
            <a:noFill/>
          </a:ln>
        </p:spPr>
        <p:txBody>
          <a:bodyPr wrap="none" lIns="68568" tIns="34284" rIns="68568" bIns="34284" rtlCol="0" anchor="ctr" anchorCtr="0">
            <a:noAutofit/>
          </a:bodyPr>
          <a:lstStyle/>
          <a:p>
            <a:pPr algn="ctr"/>
            <a:r>
              <a:rPr lang="en-US" sz="4400" b="1" dirty="0"/>
              <a:t>References</a:t>
            </a:r>
          </a:p>
        </p:txBody>
      </p:sp>
      <p:sp>
        <p:nvSpPr>
          <p:cNvPr id="10" name="Text Box 189"/>
          <p:cNvSpPr txBox="1">
            <a:spLocks noChangeArrowheads="1"/>
          </p:cNvSpPr>
          <p:nvPr/>
        </p:nvSpPr>
        <p:spPr bwMode="auto">
          <a:xfrm>
            <a:off x="1280160" y="5486400"/>
            <a:ext cx="9144000" cy="7171147"/>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Abstract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box will automatically re-size to your text. To turn off that feature, right click inside this box and go to </a:t>
            </a:r>
            <a:r>
              <a:rPr lang="en-US" sz="3200" b="1" dirty="0">
                <a:latin typeface="Calibri" pitchFamily="34" charset="0"/>
              </a:rPr>
              <a:t>Format Shape, Text Box, Autofit</a:t>
            </a:r>
            <a:r>
              <a:rPr lang="en-US" sz="3200" dirty="0">
                <a:latin typeface="Calibri" pitchFamily="34" charset="0"/>
              </a:rPr>
              <a:t>, and select the “Do Not Autofit” radio button.</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p:txBody>
      </p:sp>
      <p:sp>
        <p:nvSpPr>
          <p:cNvPr id="32" name="Rectangle 31"/>
          <p:cNvSpPr/>
          <p:nvPr/>
        </p:nvSpPr>
        <p:spPr>
          <a:xfrm>
            <a:off x="1280160" y="4800600"/>
            <a:ext cx="914400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Abstract</a:t>
            </a:r>
          </a:p>
        </p:txBody>
      </p:sp>
      <p:sp>
        <p:nvSpPr>
          <p:cNvPr id="15" name="Text Box 194"/>
          <p:cNvSpPr txBox="1">
            <a:spLocks noChangeArrowheads="1"/>
          </p:cNvSpPr>
          <p:nvPr/>
        </p:nvSpPr>
        <p:spPr bwMode="auto">
          <a:xfrm>
            <a:off x="11521440" y="14173200"/>
            <a:ext cx="20848320" cy="7467600"/>
          </a:xfrm>
          <a:prstGeom prst="rect">
            <a:avLst/>
          </a:prstGeom>
          <a:solidFill>
            <a:schemeClr val="bg1"/>
          </a:solidFill>
          <a:ln w="12700">
            <a:solidFill>
              <a:schemeClr val="accent1">
                <a:lumMod val="75000"/>
              </a:schemeClr>
            </a:solidFill>
          </a:ln>
          <a:effectLst/>
        </p:spPr>
        <p:txBody>
          <a:bodyPr lIns="137137" tIns="137137" rIns="137137" bIns="137137">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Results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a:p>
            <a:pPr eaLnBrk="1" hangingPunct="1"/>
            <a:endParaRPr lang="en-US" sz="3200" dirty="0">
              <a:latin typeface="Calibri" pitchFamily="34" charset="0"/>
            </a:endParaRPr>
          </a:p>
          <a:p>
            <a:pPr eaLnBrk="1" hangingPunct="1"/>
            <a:r>
              <a:rPr lang="en-US" sz="3200" dirty="0">
                <a:latin typeface="Calibri" pitchFamily="34" charset="0"/>
              </a:rPr>
              <a:t>Zoom out to 100% to preview what this will look like on your printed poster.</a:t>
            </a:r>
          </a:p>
          <a:p>
            <a:pPr eaLnBrk="1" hangingPunct="1"/>
            <a:endParaRPr lang="en-US" sz="3200" dirty="0">
              <a:latin typeface="Calibri" pitchFamily="34" charset="0"/>
            </a:endParaRPr>
          </a:p>
          <a:p>
            <a:pPr eaLnBrk="1" hangingPunct="1"/>
            <a:r>
              <a:rPr lang="en-US" sz="3200" dirty="0">
                <a:latin typeface="Calibri" pitchFamily="34" charset="0"/>
              </a:rPr>
              <a:t>Speaking of Results, yours will look better if you remember to run a spell-check on your poster! After you’ve added your content click on </a:t>
            </a:r>
            <a:r>
              <a:rPr lang="en-US" sz="3200" b="1" dirty="0">
                <a:latin typeface="Calibri" pitchFamily="34" charset="0"/>
              </a:rPr>
              <a:t>Review</a:t>
            </a:r>
            <a:r>
              <a:rPr lang="en-US" sz="3200" dirty="0">
                <a:latin typeface="Calibri" pitchFamily="34" charset="0"/>
              </a:rPr>
              <a:t>, </a:t>
            </a:r>
            <a:r>
              <a:rPr lang="en-US" sz="3200" b="1" dirty="0">
                <a:latin typeface="Calibri" pitchFamily="34" charset="0"/>
              </a:rPr>
              <a:t>Spelling</a:t>
            </a:r>
            <a:r>
              <a:rPr lang="en-US" sz="3200" dirty="0">
                <a:latin typeface="Calibri" pitchFamily="34" charset="0"/>
              </a:rPr>
              <a:t>, or press F7.</a:t>
            </a:r>
          </a:p>
        </p:txBody>
      </p:sp>
      <p:sp>
        <p:nvSpPr>
          <p:cNvPr id="33" name="Rectangle 32"/>
          <p:cNvSpPr/>
          <p:nvPr/>
        </p:nvSpPr>
        <p:spPr>
          <a:xfrm>
            <a:off x="1280160" y="13487400"/>
            <a:ext cx="914400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Introduction</a:t>
            </a:r>
          </a:p>
        </p:txBody>
      </p:sp>
      <p:sp>
        <p:nvSpPr>
          <p:cNvPr id="13" name="Text Box 192"/>
          <p:cNvSpPr txBox="1">
            <a:spLocks noChangeArrowheads="1"/>
          </p:cNvSpPr>
          <p:nvPr/>
        </p:nvSpPr>
        <p:spPr bwMode="auto">
          <a:xfrm>
            <a:off x="11521440" y="5486400"/>
            <a:ext cx="20848320" cy="7171147"/>
          </a:xfrm>
          <a:prstGeom prst="rect">
            <a:avLst/>
          </a:prstGeom>
          <a:solidFill>
            <a:schemeClr val="bg1"/>
          </a:solidFill>
          <a:ln w="12700">
            <a:solidFill>
              <a:schemeClr val="accent1">
                <a:lumMod val="75000"/>
              </a:schemeClr>
            </a:solidFill>
          </a:ln>
          <a:effectLst/>
        </p:spPr>
        <p:txBody>
          <a:bodyPr lIns="137137" tIns="137137" rIns="137137" bIns="137137">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Methods and Materials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Remember, the section headers you see here are just examples that we often see on posters. Feel free to change them, move them around, resize them, whatever suits your needs.</a:t>
            </a:r>
          </a:p>
          <a:p>
            <a:pPr eaLnBrk="1" hangingPunct="1"/>
            <a:endParaRPr lang="en-US" sz="3200" dirty="0">
              <a:latin typeface="Calibri" pitchFamily="34" charset="0"/>
            </a:endParaRPr>
          </a:p>
          <a:p>
            <a:pPr eaLnBrk="1" hangingPunct="1"/>
            <a:r>
              <a:rPr lang="en-US" sz="3200" dirty="0">
                <a:latin typeface="Calibri" pitchFamily="34" charset="0"/>
              </a:rPr>
              <a:t>Some other common headings we see:</a:t>
            </a:r>
          </a:p>
          <a:p>
            <a:pPr marL="457200" indent="-457200" eaLnBrk="1" hangingPunct="1">
              <a:buFont typeface="Arial" panose="020B0604020202020204" pitchFamily="34" charset="0"/>
              <a:buChar char="•"/>
            </a:pPr>
            <a:r>
              <a:rPr lang="en-US" sz="3200" dirty="0">
                <a:latin typeface="Calibri" pitchFamily="34" charset="0"/>
              </a:rPr>
              <a:t>Research Question</a:t>
            </a:r>
          </a:p>
          <a:p>
            <a:pPr marL="457200" indent="-457200" eaLnBrk="1" hangingPunct="1">
              <a:buFont typeface="Arial" panose="020B0604020202020204" pitchFamily="34" charset="0"/>
              <a:buChar char="•"/>
            </a:pPr>
            <a:r>
              <a:rPr lang="en-US" sz="3200" dirty="0">
                <a:latin typeface="Calibri" pitchFamily="34" charset="0"/>
              </a:rPr>
              <a:t>Background</a:t>
            </a:r>
          </a:p>
          <a:p>
            <a:pPr marL="457200" indent="-457200" eaLnBrk="1" hangingPunct="1">
              <a:buFont typeface="Arial" panose="020B0604020202020204" pitchFamily="34" charset="0"/>
              <a:buChar char="•"/>
            </a:pPr>
            <a:r>
              <a:rPr lang="en-US" sz="3200" dirty="0">
                <a:latin typeface="Calibri" pitchFamily="34" charset="0"/>
              </a:rPr>
              <a:t>Hypothesis</a:t>
            </a:r>
          </a:p>
          <a:p>
            <a:pPr marL="457200" indent="-457200" eaLnBrk="1" hangingPunct="1">
              <a:buFont typeface="Arial" panose="020B0604020202020204" pitchFamily="34" charset="0"/>
              <a:buChar char="•"/>
            </a:pPr>
            <a:r>
              <a:rPr lang="en-US" sz="3200" dirty="0">
                <a:latin typeface="Calibri" pitchFamily="34" charset="0"/>
              </a:rPr>
              <a:t>Procedure</a:t>
            </a:r>
          </a:p>
          <a:p>
            <a:pPr marL="457200" indent="-457200" eaLnBrk="1" hangingPunct="1">
              <a:buFont typeface="Arial" panose="020B0604020202020204" pitchFamily="34" charset="0"/>
              <a:buChar char="•"/>
            </a:pPr>
            <a:r>
              <a:rPr lang="en-US" sz="3200" dirty="0">
                <a:latin typeface="Calibri" pitchFamily="34" charset="0"/>
              </a:rPr>
              <a:t>Case Study</a:t>
            </a:r>
          </a:p>
          <a:p>
            <a:pPr marL="457200" indent="-457200" eaLnBrk="1" hangingPunct="1">
              <a:buFont typeface="Arial" panose="020B0604020202020204" pitchFamily="34" charset="0"/>
              <a:buChar char="•"/>
            </a:pPr>
            <a:r>
              <a:rPr lang="en-US" sz="3200" dirty="0">
                <a:latin typeface="Calibri" pitchFamily="34" charset="0"/>
              </a:rPr>
              <a:t>Data &amp; Analysis</a:t>
            </a:r>
          </a:p>
          <a:p>
            <a:pPr marL="457200" indent="-457200" eaLnBrk="1" hangingPunct="1">
              <a:buFont typeface="Arial" panose="020B0604020202020204" pitchFamily="34" charset="0"/>
              <a:buChar char="•"/>
            </a:pPr>
            <a:r>
              <a:rPr lang="en-US" sz="3200" dirty="0">
                <a:latin typeface="Calibri" pitchFamily="34" charset="0"/>
              </a:rPr>
              <a:t>Summary</a:t>
            </a:r>
          </a:p>
          <a:p>
            <a:pPr eaLnBrk="1" hangingPunct="1"/>
            <a:endParaRPr lang="en-US" sz="3200" dirty="0">
              <a:latin typeface="Calibri" pitchFamily="34" charset="0"/>
            </a:endParaRPr>
          </a:p>
        </p:txBody>
      </p:sp>
      <p:sp>
        <p:nvSpPr>
          <p:cNvPr id="34" name="Rectangle 33"/>
          <p:cNvSpPr/>
          <p:nvPr/>
        </p:nvSpPr>
        <p:spPr>
          <a:xfrm>
            <a:off x="11521440" y="4800600"/>
            <a:ext cx="2084832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Methods and Materials</a:t>
            </a:r>
          </a:p>
        </p:txBody>
      </p:sp>
      <p:sp>
        <p:nvSpPr>
          <p:cNvPr id="12" name="Text Box 191"/>
          <p:cNvSpPr txBox="1">
            <a:spLocks noChangeArrowheads="1"/>
          </p:cNvSpPr>
          <p:nvPr/>
        </p:nvSpPr>
        <p:spPr bwMode="auto">
          <a:xfrm>
            <a:off x="33467040" y="5486400"/>
            <a:ext cx="9144000" cy="7171147"/>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Discussion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box will automatically re-size to your text. To turn off that feature, right click inside this box and go to </a:t>
            </a:r>
            <a:r>
              <a:rPr lang="en-US" sz="3200" b="1" dirty="0">
                <a:latin typeface="Calibri" pitchFamily="34" charset="0"/>
              </a:rPr>
              <a:t>Format Shape, Text Box, Autofit</a:t>
            </a:r>
            <a:r>
              <a:rPr lang="en-US" sz="3200" dirty="0">
                <a:latin typeface="Calibri" pitchFamily="34" charset="0"/>
              </a:rPr>
              <a:t>, and select the “Do Not Autofit” radio button.</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p:txBody>
      </p:sp>
      <p:sp>
        <p:nvSpPr>
          <p:cNvPr id="35" name="Rectangle 34"/>
          <p:cNvSpPr/>
          <p:nvPr/>
        </p:nvSpPr>
        <p:spPr>
          <a:xfrm>
            <a:off x="33467040" y="4800600"/>
            <a:ext cx="914400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Discussion</a:t>
            </a:r>
          </a:p>
        </p:txBody>
      </p:sp>
      <p:sp>
        <p:nvSpPr>
          <p:cNvPr id="14" name="Text Box 193"/>
          <p:cNvSpPr txBox="1">
            <a:spLocks noChangeArrowheads="1"/>
          </p:cNvSpPr>
          <p:nvPr/>
        </p:nvSpPr>
        <p:spPr bwMode="auto">
          <a:xfrm>
            <a:off x="33467040" y="14173200"/>
            <a:ext cx="9144000" cy="8648475"/>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Conclusions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box will automatically re-size to your text. To turn off that feature, right click inside this box and go to </a:t>
            </a:r>
            <a:r>
              <a:rPr lang="en-US" sz="3200" b="1" dirty="0">
                <a:latin typeface="Calibri" pitchFamily="34" charset="0"/>
              </a:rPr>
              <a:t>Format Shape, Text Box, Autofit</a:t>
            </a:r>
            <a:r>
              <a:rPr lang="en-US" sz="3200" dirty="0">
                <a:latin typeface="Calibri" pitchFamily="34" charset="0"/>
              </a:rPr>
              <a:t>, and select the “Do Not Autofit” radio button.</a:t>
            </a:r>
          </a:p>
          <a:p>
            <a:pPr eaLnBrk="1" hangingPunct="1"/>
            <a:endParaRPr lang="en-US" sz="3200" dirty="0">
              <a:latin typeface="Calibri" pitchFamily="34" charset="0"/>
            </a:endParaRPr>
          </a:p>
          <a:p>
            <a:pPr eaLnBrk="1" hangingPunct="1"/>
            <a:r>
              <a:rPr lang="en-US" sz="3200" dirty="0">
                <a:latin typeface="Calibri" pitchFamily="34" charset="0"/>
              </a:rPr>
              <a:t>To change the font style of this text box: Click on the border once to highlight the entire text box, then select a different font or font size that suits you. This text is Calibri 32pt and is easily read up to 5 feet away on a 36x48 poster.</a:t>
            </a:r>
          </a:p>
          <a:p>
            <a:pPr eaLnBrk="1" hangingPunct="1"/>
            <a:endParaRPr lang="en-US" sz="3200" dirty="0">
              <a:latin typeface="Calibri" pitchFamily="34" charset="0"/>
            </a:endParaRPr>
          </a:p>
          <a:p>
            <a:pPr eaLnBrk="1" hangingPunct="1"/>
            <a:r>
              <a:rPr lang="en-US" sz="3200" dirty="0">
                <a:latin typeface="Calibri" pitchFamily="34" charset="0"/>
              </a:rPr>
              <a:t>Zoom out to 100% to preview what this will look like on your printed poster.</a:t>
            </a:r>
          </a:p>
        </p:txBody>
      </p:sp>
      <p:sp>
        <p:nvSpPr>
          <p:cNvPr id="36" name="Rectangle 35"/>
          <p:cNvSpPr/>
          <p:nvPr/>
        </p:nvSpPr>
        <p:spPr>
          <a:xfrm>
            <a:off x="33467040" y="13487400"/>
            <a:ext cx="914400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Conclusions</a:t>
            </a:r>
          </a:p>
        </p:txBody>
      </p:sp>
      <p:graphicFrame>
        <p:nvGraphicFramePr>
          <p:cNvPr id="44" name="Content Placeholder 114" descr="Sample table with 4 columns, 7 rows." title="Sample Table"/>
          <p:cNvGraphicFramePr>
            <a:graphicFrameLocks/>
          </p:cNvGraphicFramePr>
          <p:nvPr>
            <p:extLst>
              <p:ext uri="{D42A27DB-BD31-4B8C-83A1-F6EECF244321}">
                <p14:modId xmlns:p14="http://schemas.microsoft.com/office/powerpoint/2010/main" val="2819907042"/>
              </p:ext>
            </p:extLst>
          </p:nvPr>
        </p:nvGraphicFramePr>
        <p:xfrm>
          <a:off x="11521440" y="22620774"/>
          <a:ext cx="10058400" cy="5439875"/>
        </p:xfrm>
        <a:graphic>
          <a:graphicData uri="http://schemas.openxmlformats.org/drawingml/2006/table">
            <a:tbl>
              <a:tblPr firstRow="1" bandRow="1">
                <a:tableStyleId>{F5AB1C69-6EDB-4FF4-983F-18BD219EF322}</a:tableStyleId>
              </a:tblPr>
              <a:tblGrid>
                <a:gridCol w="25146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777125">
                <a:tc>
                  <a:txBody>
                    <a:bodyPr/>
                    <a:lstStyle/>
                    <a:p>
                      <a:endParaRPr lang="en-US" sz="2700" dirty="0"/>
                    </a:p>
                  </a:txBody>
                  <a:tcPr marL="121920" marR="121920" marT="34290" marB="34290" anchor="ctr">
                    <a:solidFill>
                      <a:schemeClr val="accent1">
                        <a:lumMod val="75000"/>
                      </a:schemeClr>
                    </a:solidFill>
                  </a:tcPr>
                </a:tc>
                <a:tc>
                  <a:txBody>
                    <a:bodyPr/>
                    <a:lstStyle/>
                    <a:p>
                      <a:pPr algn="ctr"/>
                      <a:r>
                        <a:rPr lang="en-US" sz="2700" dirty="0"/>
                        <a:t>Heading</a:t>
                      </a:r>
                    </a:p>
                  </a:txBody>
                  <a:tcPr marL="121920" marR="121920" marT="34290" marB="34290" anchor="ctr">
                    <a:solidFill>
                      <a:schemeClr val="accent1">
                        <a:lumMod val="75000"/>
                      </a:schemeClr>
                    </a:solidFill>
                  </a:tcPr>
                </a:tc>
                <a:tc>
                  <a:txBody>
                    <a:bodyPr/>
                    <a:lstStyle/>
                    <a:p>
                      <a:pPr algn="ctr"/>
                      <a:r>
                        <a:rPr lang="en-US" sz="2700" dirty="0"/>
                        <a:t>Heading</a:t>
                      </a:r>
                    </a:p>
                  </a:txBody>
                  <a:tcPr marL="121920" marR="121920" marT="34290" marB="34290" anchor="ctr">
                    <a:solidFill>
                      <a:schemeClr val="accent1">
                        <a:lumMod val="75000"/>
                      </a:schemeClr>
                    </a:solidFill>
                  </a:tcPr>
                </a:tc>
                <a:tc>
                  <a:txBody>
                    <a:bodyPr/>
                    <a:lstStyle/>
                    <a:p>
                      <a:pPr algn="ctr"/>
                      <a:r>
                        <a:rPr lang="en-US" sz="2700" dirty="0"/>
                        <a:t>Heading</a:t>
                      </a:r>
                    </a:p>
                  </a:txBody>
                  <a:tcPr marL="121920" marR="121920" marT="34290" marB="34290" anchor="ctr">
                    <a:solidFill>
                      <a:schemeClr val="accent1">
                        <a:lumMod val="75000"/>
                      </a:schemeClr>
                    </a:solidFill>
                  </a:tcPr>
                </a:tc>
                <a:extLst>
                  <a:ext uri="{0D108BD9-81ED-4DB2-BD59-A6C34878D82A}">
                    <a16:rowId xmlns:a16="http://schemas.microsoft.com/office/drawing/2014/main" val="10000"/>
                  </a:ext>
                </a:extLst>
              </a:tr>
              <a:tr h="777125">
                <a:tc>
                  <a:txBody>
                    <a:bodyPr/>
                    <a:lstStyle/>
                    <a:p>
                      <a:r>
                        <a:rPr lang="en-US" sz="2700" dirty="0"/>
                        <a:t>Item</a:t>
                      </a:r>
                    </a:p>
                  </a:txBody>
                  <a:tcPr marL="121920" marR="121920" marT="34290" marB="34290" anchor="ctr"/>
                </a:tc>
                <a:tc>
                  <a:txBody>
                    <a:bodyPr/>
                    <a:lstStyle/>
                    <a:p>
                      <a:pPr algn="ctr"/>
                      <a:r>
                        <a:rPr lang="en-US" sz="2700" dirty="0"/>
                        <a:t>800</a:t>
                      </a:r>
                    </a:p>
                  </a:txBody>
                  <a:tcPr marL="121920" marR="121920" marT="34290" marB="34290" anchor="ctr"/>
                </a:tc>
                <a:tc>
                  <a:txBody>
                    <a:bodyPr/>
                    <a:lstStyle/>
                    <a:p>
                      <a:pPr algn="ctr"/>
                      <a:r>
                        <a:rPr lang="en-US" sz="2700" dirty="0"/>
                        <a:t>790</a:t>
                      </a:r>
                    </a:p>
                  </a:txBody>
                  <a:tcPr marL="121920" marR="121920" marT="34290" marB="34290" anchor="ctr"/>
                </a:tc>
                <a:tc>
                  <a:txBody>
                    <a:bodyPr/>
                    <a:lstStyle/>
                    <a:p>
                      <a:pPr algn="ctr"/>
                      <a:r>
                        <a:rPr lang="en-US" sz="2700" dirty="0"/>
                        <a:t>4001</a:t>
                      </a:r>
                    </a:p>
                  </a:txBody>
                  <a:tcPr marL="121920" marR="121920" marT="34290" marB="34290" anchor="ctr"/>
                </a:tc>
                <a:extLst>
                  <a:ext uri="{0D108BD9-81ED-4DB2-BD59-A6C34878D82A}">
                    <a16:rowId xmlns:a16="http://schemas.microsoft.com/office/drawing/2014/main" val="10001"/>
                  </a:ext>
                </a:extLst>
              </a:tr>
              <a:tr h="777125">
                <a:tc>
                  <a:txBody>
                    <a:bodyPr/>
                    <a:lstStyle/>
                    <a:p>
                      <a:r>
                        <a:rPr lang="en-US" sz="2700" dirty="0"/>
                        <a:t>Item</a:t>
                      </a:r>
                    </a:p>
                  </a:txBody>
                  <a:tcPr marL="121920" marR="121920" marT="34290" marB="34290" anchor="ctr"/>
                </a:tc>
                <a:tc>
                  <a:txBody>
                    <a:bodyPr/>
                    <a:lstStyle/>
                    <a:p>
                      <a:pPr algn="ctr"/>
                      <a:r>
                        <a:rPr lang="en-US" sz="2700" dirty="0"/>
                        <a:t>356</a:t>
                      </a:r>
                    </a:p>
                  </a:txBody>
                  <a:tcPr marL="121920" marR="121920" marT="34290" marB="34290" anchor="ctr"/>
                </a:tc>
                <a:tc>
                  <a:txBody>
                    <a:bodyPr/>
                    <a:lstStyle/>
                    <a:p>
                      <a:pPr algn="ctr"/>
                      <a:r>
                        <a:rPr lang="en-US" sz="2700" dirty="0"/>
                        <a:t>856</a:t>
                      </a:r>
                    </a:p>
                  </a:txBody>
                  <a:tcPr marL="121920" marR="121920" marT="34290" marB="34290" anchor="ctr"/>
                </a:tc>
                <a:tc>
                  <a:txBody>
                    <a:bodyPr/>
                    <a:lstStyle/>
                    <a:p>
                      <a:pPr algn="ctr"/>
                      <a:r>
                        <a:rPr lang="en-US" sz="2700" dirty="0"/>
                        <a:t>290</a:t>
                      </a:r>
                    </a:p>
                  </a:txBody>
                  <a:tcPr marL="121920" marR="121920" marT="34290" marB="34290" anchor="ctr"/>
                </a:tc>
                <a:extLst>
                  <a:ext uri="{0D108BD9-81ED-4DB2-BD59-A6C34878D82A}">
                    <a16:rowId xmlns:a16="http://schemas.microsoft.com/office/drawing/2014/main" val="10002"/>
                  </a:ext>
                </a:extLst>
              </a:tr>
              <a:tr h="777125">
                <a:tc>
                  <a:txBody>
                    <a:bodyPr/>
                    <a:lstStyle/>
                    <a:p>
                      <a:r>
                        <a:rPr lang="en-US" sz="2700" dirty="0"/>
                        <a:t>Item</a:t>
                      </a:r>
                    </a:p>
                  </a:txBody>
                  <a:tcPr marL="121920" marR="121920" marT="34290" marB="34290" anchor="ctr"/>
                </a:tc>
                <a:tc>
                  <a:txBody>
                    <a:bodyPr/>
                    <a:lstStyle/>
                    <a:p>
                      <a:pPr algn="ctr"/>
                      <a:r>
                        <a:rPr lang="en-US" sz="2700" dirty="0"/>
                        <a:t>228</a:t>
                      </a:r>
                    </a:p>
                  </a:txBody>
                  <a:tcPr marL="121920" marR="121920" marT="34290" marB="34290" anchor="ctr"/>
                </a:tc>
                <a:tc>
                  <a:txBody>
                    <a:bodyPr/>
                    <a:lstStyle/>
                    <a:p>
                      <a:pPr algn="ctr"/>
                      <a:r>
                        <a:rPr lang="en-US" sz="2700" dirty="0"/>
                        <a:t>134</a:t>
                      </a:r>
                    </a:p>
                  </a:txBody>
                  <a:tcPr marL="121920" marR="121920" marT="34290" marB="34290" anchor="ctr"/>
                </a:tc>
                <a:tc>
                  <a:txBody>
                    <a:bodyPr/>
                    <a:lstStyle/>
                    <a:p>
                      <a:pPr algn="ctr"/>
                      <a:r>
                        <a:rPr lang="en-US" sz="2700" dirty="0"/>
                        <a:t>238</a:t>
                      </a:r>
                    </a:p>
                  </a:txBody>
                  <a:tcPr marL="121920" marR="121920" marT="34290" marB="34290" anchor="ctr"/>
                </a:tc>
                <a:extLst>
                  <a:ext uri="{0D108BD9-81ED-4DB2-BD59-A6C34878D82A}">
                    <a16:rowId xmlns:a16="http://schemas.microsoft.com/office/drawing/2014/main" val="10003"/>
                  </a:ext>
                </a:extLst>
              </a:tr>
              <a:tr h="777125">
                <a:tc>
                  <a:txBody>
                    <a:bodyPr/>
                    <a:lstStyle/>
                    <a:p>
                      <a:r>
                        <a:rPr lang="en-US" sz="2700" dirty="0"/>
                        <a:t>Item</a:t>
                      </a:r>
                    </a:p>
                  </a:txBody>
                  <a:tcPr marL="121920" marR="121920" marT="34290" marB="34290" anchor="ctr"/>
                </a:tc>
                <a:tc>
                  <a:txBody>
                    <a:bodyPr/>
                    <a:lstStyle/>
                    <a:p>
                      <a:pPr algn="ctr"/>
                      <a:r>
                        <a:rPr lang="en-US" sz="2700" dirty="0"/>
                        <a:t>954</a:t>
                      </a:r>
                    </a:p>
                  </a:txBody>
                  <a:tcPr marL="121920" marR="121920" marT="34290" marB="34290" anchor="ctr"/>
                </a:tc>
                <a:tc>
                  <a:txBody>
                    <a:bodyPr/>
                    <a:lstStyle/>
                    <a:p>
                      <a:pPr algn="ctr"/>
                      <a:r>
                        <a:rPr lang="en-US" sz="2700" dirty="0"/>
                        <a:t>875</a:t>
                      </a:r>
                    </a:p>
                  </a:txBody>
                  <a:tcPr marL="121920" marR="121920" marT="34290" marB="34290" anchor="ctr"/>
                </a:tc>
                <a:tc>
                  <a:txBody>
                    <a:bodyPr/>
                    <a:lstStyle/>
                    <a:p>
                      <a:pPr algn="ctr"/>
                      <a:r>
                        <a:rPr lang="en-US" sz="2700" dirty="0"/>
                        <a:t>976</a:t>
                      </a:r>
                    </a:p>
                  </a:txBody>
                  <a:tcPr marL="121920" marR="121920" marT="34290" marB="34290" anchor="ctr"/>
                </a:tc>
                <a:extLst>
                  <a:ext uri="{0D108BD9-81ED-4DB2-BD59-A6C34878D82A}">
                    <a16:rowId xmlns:a16="http://schemas.microsoft.com/office/drawing/2014/main" val="10004"/>
                  </a:ext>
                </a:extLst>
              </a:tr>
              <a:tr h="777125">
                <a:tc>
                  <a:txBody>
                    <a:bodyPr/>
                    <a:lstStyle/>
                    <a:p>
                      <a:r>
                        <a:rPr lang="en-US" sz="2700" dirty="0"/>
                        <a:t>Item</a:t>
                      </a:r>
                    </a:p>
                  </a:txBody>
                  <a:tcPr marL="121920" marR="121920" marT="34290" marB="34290" anchor="ctr"/>
                </a:tc>
                <a:tc>
                  <a:txBody>
                    <a:bodyPr/>
                    <a:lstStyle/>
                    <a:p>
                      <a:pPr algn="ctr"/>
                      <a:r>
                        <a:rPr lang="en-US" sz="2700" dirty="0"/>
                        <a:t>324</a:t>
                      </a:r>
                    </a:p>
                  </a:txBody>
                  <a:tcPr marL="121920" marR="121920" marT="34290" marB="34290" anchor="ctr"/>
                </a:tc>
                <a:tc>
                  <a:txBody>
                    <a:bodyPr/>
                    <a:lstStyle/>
                    <a:p>
                      <a:pPr algn="ctr"/>
                      <a:r>
                        <a:rPr lang="en-US" sz="2700" dirty="0"/>
                        <a:t>325</a:t>
                      </a:r>
                    </a:p>
                  </a:txBody>
                  <a:tcPr marL="121920" marR="121920" marT="34290" marB="34290" anchor="ctr"/>
                </a:tc>
                <a:tc>
                  <a:txBody>
                    <a:bodyPr/>
                    <a:lstStyle/>
                    <a:p>
                      <a:pPr algn="ctr"/>
                      <a:r>
                        <a:rPr lang="en-US" sz="2700" dirty="0"/>
                        <a:t>301</a:t>
                      </a:r>
                    </a:p>
                  </a:txBody>
                  <a:tcPr marL="121920" marR="121920" marT="34290" marB="34290" anchor="ctr"/>
                </a:tc>
                <a:extLst>
                  <a:ext uri="{0D108BD9-81ED-4DB2-BD59-A6C34878D82A}">
                    <a16:rowId xmlns:a16="http://schemas.microsoft.com/office/drawing/2014/main" val="10005"/>
                  </a:ext>
                </a:extLst>
              </a:tr>
              <a:tr h="777125">
                <a:tc>
                  <a:txBody>
                    <a:bodyPr/>
                    <a:lstStyle/>
                    <a:p>
                      <a:r>
                        <a:rPr lang="en-US" sz="2700" dirty="0"/>
                        <a:t>Item</a:t>
                      </a:r>
                    </a:p>
                  </a:txBody>
                  <a:tcPr marL="121920" marR="121920" marT="34290" marB="34290" anchor="ctr"/>
                </a:tc>
                <a:tc>
                  <a:txBody>
                    <a:bodyPr/>
                    <a:lstStyle/>
                    <a:p>
                      <a:pPr algn="ctr"/>
                      <a:r>
                        <a:rPr lang="en-US" sz="2700" dirty="0"/>
                        <a:t>199</a:t>
                      </a:r>
                    </a:p>
                  </a:txBody>
                  <a:tcPr marL="121920" marR="121920" marT="34290" marB="34290" anchor="ctr"/>
                </a:tc>
                <a:tc>
                  <a:txBody>
                    <a:bodyPr/>
                    <a:lstStyle/>
                    <a:p>
                      <a:pPr algn="ctr"/>
                      <a:r>
                        <a:rPr lang="en-US" sz="2700" dirty="0"/>
                        <a:t>137</a:t>
                      </a:r>
                    </a:p>
                  </a:txBody>
                  <a:tcPr marL="121920" marR="121920" marT="34290" marB="34290" anchor="ctr"/>
                </a:tc>
                <a:tc>
                  <a:txBody>
                    <a:bodyPr/>
                    <a:lstStyle/>
                    <a:p>
                      <a:pPr algn="ctr"/>
                      <a:r>
                        <a:rPr lang="en-US" sz="2700" dirty="0"/>
                        <a:t>186</a:t>
                      </a:r>
                    </a:p>
                  </a:txBody>
                  <a:tcPr marL="121920" marR="121920" marT="34290" marB="34290" anchor="ctr"/>
                </a:tc>
                <a:extLst>
                  <a:ext uri="{0D108BD9-81ED-4DB2-BD59-A6C34878D82A}">
                    <a16:rowId xmlns:a16="http://schemas.microsoft.com/office/drawing/2014/main" val="10006"/>
                  </a:ext>
                </a:extLst>
              </a:tr>
            </a:tbl>
          </a:graphicData>
        </a:graphic>
      </p:graphicFrame>
      <p:sp>
        <p:nvSpPr>
          <p:cNvPr id="11" name="Text Box 190"/>
          <p:cNvSpPr txBox="1">
            <a:spLocks noChangeArrowheads="1"/>
          </p:cNvSpPr>
          <p:nvPr/>
        </p:nvSpPr>
        <p:spPr bwMode="auto">
          <a:xfrm>
            <a:off x="1280160" y="14173200"/>
            <a:ext cx="9144000" cy="13572900"/>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b="1" dirty="0">
                <a:latin typeface="+mn-lt"/>
              </a:rPr>
              <a:t>Genigraphics®</a:t>
            </a:r>
            <a:r>
              <a:rPr lang="en-US" sz="3200" dirty="0">
                <a:latin typeface="+mn-lt"/>
              </a:rPr>
              <a:t> has provided this template to assist in preparation of a medical or scientific research poster. The dimensions are set to 36” high by 48” wide and the layout is for use as a Tri-Fold poster. </a:t>
            </a:r>
          </a:p>
          <a:p>
            <a:pPr eaLnBrk="1" hangingPunct="1"/>
            <a:endParaRPr lang="en-US" sz="3200" dirty="0">
              <a:latin typeface="+mn-lt"/>
            </a:endParaRPr>
          </a:p>
          <a:p>
            <a:pPr eaLnBrk="1" hangingPunct="1"/>
            <a:r>
              <a:rPr lang="en-US" sz="3200" dirty="0">
                <a:latin typeface="+mn-lt"/>
              </a:rPr>
              <a:t>The poster is designed to fold at 12” in from the sides so it can be stored or shipped at 36” high by 24” wide. The folds align precisely in between the columns. </a:t>
            </a:r>
          </a:p>
          <a:p>
            <a:pPr eaLnBrk="1" hangingPunct="1"/>
            <a:endParaRPr lang="en-US" sz="3200" dirty="0">
              <a:latin typeface="+mn-lt"/>
            </a:endParaRPr>
          </a:p>
          <a:p>
            <a:pPr eaLnBrk="1" hangingPunct="1"/>
            <a:r>
              <a:rPr lang="en-US" sz="3200" dirty="0">
                <a:latin typeface="+mn-lt"/>
              </a:rPr>
              <a:t>Order your poster from Genigraphics and we will perform a free design review and advise you if we see anything that may be a concern for printing. We’ll even help tidy things up.</a:t>
            </a:r>
          </a:p>
          <a:p>
            <a:pPr eaLnBrk="1" hangingPunct="1"/>
            <a:endParaRPr lang="en-US" sz="3200" dirty="0">
              <a:latin typeface="+mn-lt"/>
            </a:endParaRPr>
          </a:p>
          <a:p>
            <a:pPr eaLnBrk="1" hangingPunct="1"/>
            <a:r>
              <a:rPr lang="en-US" sz="3200" dirty="0">
                <a:latin typeface="+mn-lt"/>
              </a:rPr>
              <a:t>We have more history with PowerPoint® than any other printing company. In fact, we helped Microsoft® design the software and we created all of the original color themes, templates, and clip art galleries. We know how to make your printed poster look just like it does on screen. Other printing companies and copy centers will blindly convert your file to another format prior to printing. This can result in text shifting, symbols changing, and altered colors. We know the secrets to avoid those issues. So choose Genigraphics for the most accurate reproduction available.</a:t>
            </a:r>
          </a:p>
        </p:txBody>
      </p:sp>
      <p:sp>
        <p:nvSpPr>
          <p:cNvPr id="45" name="Rectangle 44"/>
          <p:cNvSpPr/>
          <p:nvPr/>
        </p:nvSpPr>
        <p:spPr>
          <a:xfrm>
            <a:off x="11521440" y="13487400"/>
            <a:ext cx="2084832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Results</a:t>
            </a:r>
          </a:p>
        </p:txBody>
      </p:sp>
      <p:pic>
        <p:nvPicPr>
          <p:cNvPr id="49" name="Picture 178" descr="Picture1"/>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215910" y="8458138"/>
            <a:ext cx="4114800" cy="2848707"/>
          </a:xfrm>
          <a:prstGeom prst="rect">
            <a:avLst/>
          </a:prstGeom>
          <a:noFill/>
          <a:ln w="9525">
            <a:solidFill>
              <a:schemeClr val="tx2">
                <a:lumMod val="50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50" name="Picture 179" descr="Picture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6388110" y="8458200"/>
            <a:ext cx="4114800" cy="284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 Box 180"/>
          <p:cNvSpPr txBox="1">
            <a:spLocks noChangeArrowheads="1"/>
          </p:cNvSpPr>
          <p:nvPr/>
        </p:nvSpPr>
        <p:spPr bwMode="auto">
          <a:xfrm>
            <a:off x="20172373" y="11513095"/>
            <a:ext cx="3847824"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1.</a:t>
            </a:r>
            <a:r>
              <a:rPr lang="en-US" sz="2400" dirty="0">
                <a:latin typeface="Calibri" pitchFamily="34" charset="0"/>
              </a:rPr>
              <a:t> Label in 24pt Calibri.</a:t>
            </a:r>
          </a:p>
        </p:txBody>
      </p:sp>
      <p:sp>
        <p:nvSpPr>
          <p:cNvPr id="52" name="Text Box 181"/>
          <p:cNvSpPr txBox="1">
            <a:spLocks noChangeArrowheads="1"/>
          </p:cNvSpPr>
          <p:nvPr/>
        </p:nvSpPr>
        <p:spPr bwMode="auto">
          <a:xfrm>
            <a:off x="26344571" y="11513095"/>
            <a:ext cx="3847824"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2400" b="1" dirty="0">
                <a:latin typeface="Calibri" pitchFamily="34" charset="0"/>
              </a:rPr>
              <a:t>Figure 2.</a:t>
            </a:r>
            <a:r>
              <a:rPr lang="en-US" sz="2400" dirty="0">
                <a:latin typeface="Calibri" pitchFamily="34" charset="0"/>
              </a:rPr>
              <a:t> Label in 24pt Calibri.</a:t>
            </a:r>
          </a:p>
        </p:txBody>
      </p:sp>
      <p:sp>
        <p:nvSpPr>
          <p:cNvPr id="53" name="Text Box 180"/>
          <p:cNvSpPr txBox="1">
            <a:spLocks noChangeArrowheads="1"/>
          </p:cNvSpPr>
          <p:nvPr/>
        </p:nvSpPr>
        <p:spPr bwMode="auto">
          <a:xfrm>
            <a:off x="11521440" y="22067536"/>
            <a:ext cx="3736640"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400" b="1" dirty="0">
                <a:latin typeface="Calibri" pitchFamily="34" charset="0"/>
              </a:rPr>
              <a:t>Table 1.</a:t>
            </a:r>
            <a:r>
              <a:rPr lang="en-US" sz="2400" dirty="0">
                <a:latin typeface="Calibri" pitchFamily="34" charset="0"/>
              </a:rPr>
              <a:t> Label in 24pt Calibri.</a:t>
            </a:r>
          </a:p>
        </p:txBody>
      </p:sp>
      <p:graphicFrame>
        <p:nvGraphicFramePr>
          <p:cNvPr id="3" name="Chart 2"/>
          <p:cNvGraphicFramePr/>
          <p:nvPr>
            <p:extLst>
              <p:ext uri="{D42A27DB-BD31-4B8C-83A1-F6EECF244321}">
                <p14:modId xmlns:p14="http://schemas.microsoft.com/office/powerpoint/2010/main" val="2880648098"/>
              </p:ext>
            </p:extLst>
          </p:nvPr>
        </p:nvGraphicFramePr>
        <p:xfrm>
          <a:off x="22402800" y="22707600"/>
          <a:ext cx="9921240" cy="5410200"/>
        </p:xfrm>
        <a:graphic>
          <a:graphicData uri="http://schemas.openxmlformats.org/drawingml/2006/chart">
            <c:chart xmlns:c="http://schemas.openxmlformats.org/drawingml/2006/chart" xmlns:r="http://schemas.openxmlformats.org/officeDocument/2006/relationships" r:id="rId4"/>
          </a:graphicData>
        </a:graphic>
      </p:graphicFrame>
      <p:sp>
        <p:nvSpPr>
          <p:cNvPr id="37" name="Text Box 180"/>
          <p:cNvSpPr txBox="1">
            <a:spLocks noChangeArrowheads="1"/>
          </p:cNvSpPr>
          <p:nvPr/>
        </p:nvSpPr>
        <p:spPr bwMode="auto">
          <a:xfrm>
            <a:off x="22402800" y="22067536"/>
            <a:ext cx="3756709" cy="43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8568" tIns="34284" rIns="68568" bIns="34284">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400" b="1" dirty="0">
                <a:latin typeface="Calibri" pitchFamily="34" charset="0"/>
              </a:rPr>
              <a:t>Chart 1.</a:t>
            </a:r>
            <a:r>
              <a:rPr lang="en-US" sz="2400" dirty="0">
                <a:latin typeface="Calibri" pitchFamily="34" charset="0"/>
              </a:rPr>
              <a:t> Label in 24pt Calibri.</a:t>
            </a:r>
          </a:p>
        </p:txBody>
      </p:sp>
      <p:sp>
        <p:nvSpPr>
          <p:cNvPr id="38" name="TextBox 37"/>
          <p:cNvSpPr txBox="1"/>
          <p:nvPr/>
        </p:nvSpPr>
        <p:spPr>
          <a:xfrm>
            <a:off x="33284160" y="30038039"/>
            <a:ext cx="9144000" cy="2223674"/>
          </a:xfrm>
          <a:prstGeom prst="rect">
            <a:avLst/>
          </a:prstGeom>
          <a:noFill/>
        </p:spPr>
        <p:txBody>
          <a:bodyPr wrap="square" lIns="91440" tIns="91440" rIns="91440" bIns="91440" rtlCol="0">
            <a:normAutofit/>
          </a:bodyPr>
          <a:lstStyle/>
          <a:p>
            <a:pPr algn="ctr"/>
            <a:r>
              <a:rPr lang="en-US" sz="2800" dirty="0"/>
              <a:t>Acknowledgements text goes here.</a:t>
            </a:r>
          </a:p>
        </p:txBody>
      </p:sp>
      <p:sp>
        <p:nvSpPr>
          <p:cNvPr id="39" name="TextBox 38"/>
          <p:cNvSpPr txBox="1"/>
          <p:nvPr/>
        </p:nvSpPr>
        <p:spPr>
          <a:xfrm>
            <a:off x="33284160" y="29146502"/>
            <a:ext cx="9144000" cy="746346"/>
          </a:xfrm>
          <a:prstGeom prst="rect">
            <a:avLst/>
          </a:prstGeom>
          <a:noFill/>
        </p:spPr>
        <p:txBody>
          <a:bodyPr wrap="none" lIns="68568" tIns="34284" rIns="68568" bIns="34284" rtlCol="0">
            <a:noAutofit/>
          </a:bodyPr>
          <a:lstStyle/>
          <a:p>
            <a:pPr algn="ctr"/>
            <a:r>
              <a:rPr lang="en-US" sz="4400" b="1" dirty="0"/>
              <a:t>Acknowledgements</a:t>
            </a:r>
          </a:p>
        </p:txBody>
      </p:sp>
      <p:sp>
        <p:nvSpPr>
          <p:cNvPr id="40" name="Text Box 193"/>
          <p:cNvSpPr txBox="1">
            <a:spLocks noChangeArrowheads="1"/>
          </p:cNvSpPr>
          <p:nvPr/>
        </p:nvSpPr>
        <p:spPr bwMode="auto">
          <a:xfrm>
            <a:off x="33467040" y="24323040"/>
            <a:ext cx="9144000" cy="3231607"/>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dirty="0">
                <a:latin typeface="Calibri" pitchFamily="34" charset="0"/>
              </a:rPr>
              <a:t>Click here to insert your Future Directions text. Type it in or copy and paste from your Word document or other source.</a:t>
            </a:r>
          </a:p>
          <a:p>
            <a:pPr eaLnBrk="1" hangingPunct="1"/>
            <a:endParaRPr lang="en-US" sz="3200" dirty="0">
              <a:latin typeface="Calibri" pitchFamily="34" charset="0"/>
            </a:endParaRPr>
          </a:p>
          <a:p>
            <a:pPr eaLnBrk="1" hangingPunct="1"/>
            <a:r>
              <a:rPr lang="en-US" sz="3200" dirty="0">
                <a:latin typeface="Calibri" pitchFamily="34" charset="0"/>
              </a:rPr>
              <a:t>This text is Calibri 32pt and is easily read up to 5 feet away on a 36x48 poster.</a:t>
            </a:r>
          </a:p>
        </p:txBody>
      </p:sp>
      <p:sp>
        <p:nvSpPr>
          <p:cNvPr id="41" name="Rectangle 40"/>
          <p:cNvSpPr/>
          <p:nvPr/>
        </p:nvSpPr>
        <p:spPr>
          <a:xfrm>
            <a:off x="33467040" y="23637240"/>
            <a:ext cx="9144000" cy="68580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accent3">
                    <a:lumMod val="20000"/>
                    <a:lumOff val="80000"/>
                  </a:schemeClr>
                </a:solidFill>
              </a:rPr>
              <a:t>Future Directions</a:t>
            </a:r>
          </a:p>
        </p:txBody>
      </p:sp>
      <p:pic>
        <p:nvPicPr>
          <p:cNvPr id="2" name="Picture 1">
            <a:extLst>
              <a:ext uri="{FF2B5EF4-FFF2-40B4-BE49-F238E27FC236}">
                <a16:creationId xmlns:a16="http://schemas.microsoft.com/office/drawing/2014/main" id="{00000000-0008-0000-0100-000002000000}"/>
              </a:ext>
            </a:extLst>
          </p:cNvPr>
          <p:cNvPicPr/>
          <p:nvPr/>
        </p:nvPicPr>
        <p:blipFill>
          <a:blip r:embed="rId5" cstate="print"/>
          <a:srcRect/>
          <a:stretch>
            <a:fillRect/>
          </a:stretch>
        </p:blipFill>
        <p:spPr bwMode="auto">
          <a:xfrm>
            <a:off x="90288" y="1"/>
            <a:ext cx="9144000" cy="3970746"/>
          </a:xfrm>
          <a:prstGeom prst="rect">
            <a:avLst/>
          </a:prstGeom>
          <a:noFill/>
          <a:ln w="9525">
            <a:noFill/>
            <a:miter lim="800000"/>
            <a:headEnd/>
            <a:tailEnd/>
          </a:ln>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2972</TotalTime>
  <Words>981</Words>
  <Application>Microsoft Office PowerPoint</Application>
  <PresentationFormat>Custom</PresentationFormat>
  <Paragraphs>104</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 Tri-Fold</dc:title>
  <dc:creator>Jay Larson</dc:creator>
  <dc:description>Quality poster printing
www.genigraphics.com
1-800-790-4001</dc:description>
  <cp:lastModifiedBy>SAI RAM</cp:lastModifiedBy>
  <cp:revision>102</cp:revision>
  <cp:lastPrinted>2013-02-12T02:21:55Z</cp:lastPrinted>
  <dcterms:created xsi:type="dcterms:W3CDTF">2013-02-10T21:14:48Z</dcterms:created>
  <dcterms:modified xsi:type="dcterms:W3CDTF">2025-11-19T04:04:16Z</dcterms:modified>
</cp:coreProperties>
</file>